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421" r:id="rId4"/>
    <p:sldId id="309" r:id="rId5"/>
    <p:sldId id="337" r:id="rId6"/>
    <p:sldId id="404" r:id="rId7"/>
    <p:sldId id="405" r:id="rId8"/>
    <p:sldId id="339" r:id="rId9"/>
    <p:sldId id="409" r:id="rId10"/>
    <p:sldId id="415" r:id="rId11"/>
    <p:sldId id="416" r:id="rId12"/>
    <p:sldId id="418" r:id="rId13"/>
    <p:sldId id="419" r:id="rId14"/>
    <p:sldId id="420" r:id="rId15"/>
    <p:sldId id="422" r:id="rId16"/>
    <p:sldId id="28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0" roundtripDataSignature="AMtx7mi4sVvjJxFuE/EtkzHxgjfiv0hs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6E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49" autoAdjust="0"/>
  </p:normalViewPr>
  <p:slideViewPr>
    <p:cSldViewPr snapToGrid="0">
      <p:cViewPr varScale="1">
        <p:scale>
          <a:sx n="74" d="100"/>
          <a:sy n="74" d="100"/>
        </p:scale>
        <p:origin x="139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776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60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ED96B62C-353E-29EC-E7B8-07F55B6F8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F31C8F1B-E5E4-8065-BB51-9A0DD984A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F18370B-FE7E-1E3B-01C4-36A71EDC4E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1DA3396D-D685-536A-322E-B2E0AC90A3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5435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06E54195-CF3E-624D-A6A7-BC0A5948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>
            <a:extLst>
              <a:ext uri="{FF2B5EF4-FFF2-40B4-BE49-F238E27FC236}">
                <a16:creationId xmlns:a16="http://schemas.microsoft.com/office/drawing/2014/main" id="{24BC1A42-F1D2-032D-F899-BB1596E069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3:notes">
            <a:extLst>
              <a:ext uri="{FF2B5EF4-FFF2-40B4-BE49-F238E27FC236}">
                <a16:creationId xmlns:a16="http://schemas.microsoft.com/office/drawing/2014/main" id="{0E783B10-DEE7-324E-1CF8-7C8679AB3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>
            <a:extLst>
              <a:ext uri="{FF2B5EF4-FFF2-40B4-BE49-F238E27FC236}">
                <a16:creationId xmlns:a16="http://schemas.microsoft.com/office/drawing/2014/main" id="{C1695665-756C-561A-F675-A9A09F1038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172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E7BB2BCD-93FB-8546-DE9E-5498F9C6A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>
            <a:extLst>
              <a:ext uri="{FF2B5EF4-FFF2-40B4-BE49-F238E27FC236}">
                <a16:creationId xmlns:a16="http://schemas.microsoft.com/office/drawing/2014/main" id="{8216B002-8453-E3DF-0526-E9C5F186BA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3:notes">
            <a:extLst>
              <a:ext uri="{FF2B5EF4-FFF2-40B4-BE49-F238E27FC236}">
                <a16:creationId xmlns:a16="http://schemas.microsoft.com/office/drawing/2014/main" id="{9C06AAFB-D395-B6B0-7980-2B10E5312C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>
            <a:extLst>
              <a:ext uri="{FF2B5EF4-FFF2-40B4-BE49-F238E27FC236}">
                <a16:creationId xmlns:a16="http://schemas.microsoft.com/office/drawing/2014/main" id="{884F8149-1A4A-DF8C-F2A4-3D5ECFFA18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66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F82096AA-F06B-9C1C-9F31-5FF1405C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>
            <a:extLst>
              <a:ext uri="{FF2B5EF4-FFF2-40B4-BE49-F238E27FC236}">
                <a16:creationId xmlns:a16="http://schemas.microsoft.com/office/drawing/2014/main" id="{42874DDB-9E1E-A926-B1CA-725F08B782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3:notes">
            <a:extLst>
              <a:ext uri="{FF2B5EF4-FFF2-40B4-BE49-F238E27FC236}">
                <a16:creationId xmlns:a16="http://schemas.microsoft.com/office/drawing/2014/main" id="{AA159C64-EAB7-2E96-451D-DD481A469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>
            <a:extLst>
              <a:ext uri="{FF2B5EF4-FFF2-40B4-BE49-F238E27FC236}">
                <a16:creationId xmlns:a16="http://schemas.microsoft.com/office/drawing/2014/main" id="{99B64638-13D2-6086-A1C8-1B29103282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7787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5B243F47-E03B-45A5-430B-563E759F6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>
            <a:extLst>
              <a:ext uri="{FF2B5EF4-FFF2-40B4-BE49-F238E27FC236}">
                <a16:creationId xmlns:a16="http://schemas.microsoft.com/office/drawing/2014/main" id="{94314F31-6BA3-2707-7682-9723A151D2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3:notes">
            <a:extLst>
              <a:ext uri="{FF2B5EF4-FFF2-40B4-BE49-F238E27FC236}">
                <a16:creationId xmlns:a16="http://schemas.microsoft.com/office/drawing/2014/main" id="{ED7B161E-37AA-131F-DB82-422EDC8F18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>
            <a:extLst>
              <a:ext uri="{FF2B5EF4-FFF2-40B4-BE49-F238E27FC236}">
                <a16:creationId xmlns:a16="http://schemas.microsoft.com/office/drawing/2014/main" id="{4AA1A8D6-CEB9-C952-34C1-2FE653755F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1747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CABE6804-34B6-94E3-9A29-1D9583D23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>
            <a:extLst>
              <a:ext uri="{FF2B5EF4-FFF2-40B4-BE49-F238E27FC236}">
                <a16:creationId xmlns:a16="http://schemas.microsoft.com/office/drawing/2014/main" id="{F04AD2BC-2C24-1DEB-68D5-9297EE39E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3:notes">
            <a:extLst>
              <a:ext uri="{FF2B5EF4-FFF2-40B4-BE49-F238E27FC236}">
                <a16:creationId xmlns:a16="http://schemas.microsoft.com/office/drawing/2014/main" id="{ECADF8A6-F3F0-AAB1-2792-34D0AF4C7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>
            <a:extLst>
              <a:ext uri="{FF2B5EF4-FFF2-40B4-BE49-F238E27FC236}">
                <a16:creationId xmlns:a16="http://schemas.microsoft.com/office/drawing/2014/main" id="{ABEA9385-BD2C-BA4D-98CB-0817122B58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6142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AB1C4EE4-C6F3-39E3-4861-4CE34D417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>
            <a:extLst>
              <a:ext uri="{FF2B5EF4-FFF2-40B4-BE49-F238E27FC236}">
                <a16:creationId xmlns:a16="http://schemas.microsoft.com/office/drawing/2014/main" id="{764319EC-E7BF-6475-E75B-9AB423B38F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3:notes">
            <a:extLst>
              <a:ext uri="{FF2B5EF4-FFF2-40B4-BE49-F238E27FC236}">
                <a16:creationId xmlns:a16="http://schemas.microsoft.com/office/drawing/2014/main" id="{84C4F1AC-4471-6529-6686-DEFECBA2A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>
            <a:extLst>
              <a:ext uri="{FF2B5EF4-FFF2-40B4-BE49-F238E27FC236}">
                <a16:creationId xmlns:a16="http://schemas.microsoft.com/office/drawing/2014/main" id="{4B33ADF6-AF8A-BB57-48E0-CEDCFB9984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7799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0AAC6763-EDF6-573F-F6FA-0B0BB9024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>
            <a:extLst>
              <a:ext uri="{FF2B5EF4-FFF2-40B4-BE49-F238E27FC236}">
                <a16:creationId xmlns:a16="http://schemas.microsoft.com/office/drawing/2014/main" id="{6B0BEB59-1CAC-0751-1DAF-25BCDC0F21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3:notes">
            <a:extLst>
              <a:ext uri="{FF2B5EF4-FFF2-40B4-BE49-F238E27FC236}">
                <a16:creationId xmlns:a16="http://schemas.microsoft.com/office/drawing/2014/main" id="{FE80EE1A-A013-5C0A-EDE0-5BE536CBB4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>
            <a:extLst>
              <a:ext uri="{FF2B5EF4-FFF2-40B4-BE49-F238E27FC236}">
                <a16:creationId xmlns:a16="http://schemas.microsoft.com/office/drawing/2014/main" id="{3500D63C-4ABF-178A-AFA9-C47314ECA0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522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AF22A51A-B7B5-A191-84E9-BCA1FB8A7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>
            <a:extLst>
              <a:ext uri="{FF2B5EF4-FFF2-40B4-BE49-F238E27FC236}">
                <a16:creationId xmlns:a16="http://schemas.microsoft.com/office/drawing/2014/main" id="{AE29F66E-FBFE-66A4-DD80-4DA35F9BCF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3:notes">
            <a:extLst>
              <a:ext uri="{FF2B5EF4-FFF2-40B4-BE49-F238E27FC236}">
                <a16:creationId xmlns:a16="http://schemas.microsoft.com/office/drawing/2014/main" id="{D02511CA-0D3F-9B3E-0903-F23E234D8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>
            <a:extLst>
              <a:ext uri="{FF2B5EF4-FFF2-40B4-BE49-F238E27FC236}">
                <a16:creationId xmlns:a16="http://schemas.microsoft.com/office/drawing/2014/main" id="{FE6F6877-577D-3DDE-DBE6-738581C0DF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3069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B73854C5-4686-7799-000A-8248AFDE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>
            <a:extLst>
              <a:ext uri="{FF2B5EF4-FFF2-40B4-BE49-F238E27FC236}">
                <a16:creationId xmlns:a16="http://schemas.microsoft.com/office/drawing/2014/main" id="{092EAA0A-9A06-1A29-2B15-A0EA238ECB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3:notes">
            <a:extLst>
              <a:ext uri="{FF2B5EF4-FFF2-40B4-BE49-F238E27FC236}">
                <a16:creationId xmlns:a16="http://schemas.microsoft.com/office/drawing/2014/main" id="{39898BBD-8B31-E87F-71E8-DE69E91882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>
            <a:extLst>
              <a:ext uri="{FF2B5EF4-FFF2-40B4-BE49-F238E27FC236}">
                <a16:creationId xmlns:a16="http://schemas.microsoft.com/office/drawing/2014/main" id="{B04BD750-6315-504D-3361-C3A49E433A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1629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F27E16F2-4755-CFB3-F0CA-DDCE6B0CC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>
            <a:extLst>
              <a:ext uri="{FF2B5EF4-FFF2-40B4-BE49-F238E27FC236}">
                <a16:creationId xmlns:a16="http://schemas.microsoft.com/office/drawing/2014/main" id="{DDDFFECC-67A4-8C7F-2CA6-F27A8AD697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3:notes">
            <a:extLst>
              <a:ext uri="{FF2B5EF4-FFF2-40B4-BE49-F238E27FC236}">
                <a16:creationId xmlns:a16="http://schemas.microsoft.com/office/drawing/2014/main" id="{3D761798-6CB7-11AE-D288-31E566248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>
            <a:extLst>
              <a:ext uri="{FF2B5EF4-FFF2-40B4-BE49-F238E27FC236}">
                <a16:creationId xmlns:a16="http://schemas.microsoft.com/office/drawing/2014/main" id="{353B8363-EAA9-B904-55BE-A3F8E6F231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4872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2ACD9F11-5753-9F2B-56DA-CC0F0EAA5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>
            <a:extLst>
              <a:ext uri="{FF2B5EF4-FFF2-40B4-BE49-F238E27FC236}">
                <a16:creationId xmlns:a16="http://schemas.microsoft.com/office/drawing/2014/main" id="{D34C0AE7-22FA-2E59-AF02-0977C27BFC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3:notes">
            <a:extLst>
              <a:ext uri="{FF2B5EF4-FFF2-40B4-BE49-F238E27FC236}">
                <a16:creationId xmlns:a16="http://schemas.microsoft.com/office/drawing/2014/main" id="{0C218A01-53E9-0B80-0301-74A646AA3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>
            <a:extLst>
              <a:ext uri="{FF2B5EF4-FFF2-40B4-BE49-F238E27FC236}">
                <a16:creationId xmlns:a16="http://schemas.microsoft.com/office/drawing/2014/main" id="{B7E5F372-AB2C-9648-2950-F262B968AB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0329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CE387617-A106-8E50-05D9-AF14E0660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>
            <a:extLst>
              <a:ext uri="{FF2B5EF4-FFF2-40B4-BE49-F238E27FC236}">
                <a16:creationId xmlns:a16="http://schemas.microsoft.com/office/drawing/2014/main" id="{351CF54F-DBBC-70DA-FC41-2BBE9F7779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3:notes">
            <a:extLst>
              <a:ext uri="{FF2B5EF4-FFF2-40B4-BE49-F238E27FC236}">
                <a16:creationId xmlns:a16="http://schemas.microsoft.com/office/drawing/2014/main" id="{3CB7B057-D3F2-2D1B-F093-10639F4FFB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>
            <a:extLst>
              <a:ext uri="{FF2B5EF4-FFF2-40B4-BE49-F238E27FC236}">
                <a16:creationId xmlns:a16="http://schemas.microsoft.com/office/drawing/2014/main" id="{B6F325FC-A81A-6C62-6966-CCA596FB36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5685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606FA12-8713-149F-8D05-5375A5BF5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93185772-B640-8522-75C1-CBC73DFF9D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80E00B5B-6F8F-5CBD-7D77-2A55CD047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97D614FB-E1B7-1CD4-6EDF-A1B9DCDFF3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3392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1" name="Google Shape;21;p26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28"/>
            <a:ext cx="12192000" cy="6850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6" name="Google Shape;26;p27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28"/>
            <a:ext cx="12192000" cy="6850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9" name="Google Shape;39;p29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28"/>
            <a:ext cx="12192000" cy="6850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>
  <p:cSld name="Только заголовок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32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28"/>
            <a:ext cx="12192000" cy="6850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27715" y="1533799"/>
            <a:ext cx="6634293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u="none" strike="noStrike" cap="none" dirty="0">
                <a:solidFill>
                  <a:schemeClr val="bg1"/>
                </a:solidFill>
                <a:latin typeface="+mj-lt"/>
                <a:sym typeface="Arial"/>
              </a:rPr>
              <a:t>Программы </a:t>
            </a:r>
            <a:r>
              <a:rPr lang="ru-RU" sz="3600" b="1" dirty="0">
                <a:solidFill>
                  <a:schemeClr val="bg1"/>
                </a:solidFill>
                <a:latin typeface="+mj-lt"/>
              </a:rPr>
              <a:t>для ЭВМ и базы данных как объекты авторского права</a:t>
            </a:r>
            <a:endParaRPr lang="ru-RU" sz="3600" b="1" i="0" u="none" strike="noStrike" cap="none" dirty="0">
              <a:solidFill>
                <a:schemeClr val="lt1"/>
              </a:solidFill>
              <a:latin typeface="+mj-lt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27715" y="3429000"/>
            <a:ext cx="912811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Козенко Арсений 221-371</a:t>
            </a:r>
            <a:endParaRPr sz="2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2"/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" name="Google Shape;97;p2"/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2"/>
          <p:cNvSpPr txBox="1"/>
          <p:nvPr/>
        </p:nvSpPr>
        <p:spPr>
          <a:xfrm>
            <a:off x="899591" y="1392382"/>
            <a:ext cx="9208229" cy="420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460800">
              <a:lnSpc>
                <a:spcPct val="150000"/>
              </a:lnSpc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2000" dirty="0">
                <a:latin typeface="Gilroy"/>
                <a:sym typeface="Calibri"/>
              </a:rPr>
              <a:t>Что такое программа для ЭВМ с точки зрения права?</a:t>
            </a:r>
          </a:p>
          <a:p>
            <a:pPr marL="228600" indent="-460800">
              <a:lnSpc>
                <a:spcPct val="150000"/>
              </a:lnSpc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2000" dirty="0">
                <a:latin typeface="Gilroy"/>
              </a:rPr>
              <a:t>Какие элементы программы охраняются?</a:t>
            </a:r>
            <a:endParaRPr lang="ru-RU" sz="2000" dirty="0">
              <a:latin typeface="Gilroy"/>
              <a:sym typeface="Calibri"/>
            </a:endParaRPr>
          </a:p>
          <a:p>
            <a:pPr marL="228600" indent="-460800">
              <a:lnSpc>
                <a:spcPct val="150000"/>
              </a:lnSpc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2000" dirty="0">
                <a:latin typeface="Gilroy"/>
              </a:rPr>
              <a:t>Использование программы</a:t>
            </a:r>
            <a:r>
              <a:rPr lang="en-US" sz="2000" dirty="0">
                <a:latin typeface="Gilroy"/>
              </a:rPr>
              <a:t>:</a:t>
            </a:r>
            <a:r>
              <a:rPr lang="ru-RU" sz="2000" dirty="0">
                <a:latin typeface="Gilroy"/>
              </a:rPr>
              <a:t> необходимость разрешения</a:t>
            </a:r>
            <a:endParaRPr lang="en-US" sz="2000" dirty="0">
              <a:latin typeface="Gilroy"/>
            </a:endParaRPr>
          </a:p>
          <a:p>
            <a:pPr marL="228600" indent="-460800">
              <a:lnSpc>
                <a:spcPct val="150000"/>
              </a:lnSpc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2000" dirty="0">
                <a:latin typeface="Gilroy"/>
              </a:rPr>
              <a:t>Почему исходный текст — главный объект защиты</a:t>
            </a:r>
          </a:p>
          <a:p>
            <a:pPr marL="228600" indent="-460800">
              <a:lnSpc>
                <a:spcPct val="150000"/>
              </a:lnSpc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2000" dirty="0">
                <a:latin typeface="Gilroy"/>
              </a:rPr>
              <a:t>Что не защищается авторским правом</a:t>
            </a:r>
          </a:p>
          <a:p>
            <a:pPr marL="228600" indent="-460800">
              <a:lnSpc>
                <a:spcPct val="150000"/>
              </a:lnSpc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2000" dirty="0">
                <a:latin typeface="Gilroy"/>
              </a:rPr>
              <a:t>Исключительное право и формы использования</a:t>
            </a:r>
          </a:p>
          <a:p>
            <a:pPr marL="228600" indent="-460800">
              <a:lnSpc>
                <a:spcPct val="150000"/>
              </a:lnSpc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2000" dirty="0">
                <a:latin typeface="Gilroy"/>
              </a:rPr>
              <a:t>Особенности использования программ для ЭВМ</a:t>
            </a:r>
          </a:p>
          <a:p>
            <a:pPr marL="228600" indent="-460800">
              <a:lnSpc>
                <a:spcPct val="150000"/>
              </a:lnSpc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2000" dirty="0">
                <a:latin typeface="Gilroy"/>
              </a:rPr>
              <a:t>Лицензии и регистрация</a:t>
            </a:r>
          </a:p>
        </p:txBody>
      </p:sp>
      <p:sp>
        <p:nvSpPr>
          <p:cNvPr id="99" name="Google Shape;99;p2"/>
          <p:cNvSpPr txBox="1">
            <a:spLocks noGrp="1"/>
          </p:cNvSpPr>
          <p:nvPr>
            <p:ph type="title" idx="4294967295"/>
          </p:nvPr>
        </p:nvSpPr>
        <p:spPr>
          <a:xfrm>
            <a:off x="971600" y="476672"/>
            <a:ext cx="7725544" cy="50405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roy"/>
                <a:ea typeface="Arial"/>
                <a:cs typeface="Arial"/>
                <a:sym typeface="Arial"/>
              </a:rPr>
              <a:t>Содержание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roy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 fill="hold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" fill="hold"/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" fill="hold"/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" fill="hold"/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" fill="hold"/>
                                        <p:tgtEl>
                                          <p:spTgt spid="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3062DE0-4157-E1A2-487C-06F1A211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2">
            <a:extLst>
              <a:ext uri="{FF2B5EF4-FFF2-40B4-BE49-F238E27FC236}">
                <a16:creationId xmlns:a16="http://schemas.microsoft.com/office/drawing/2014/main" id="{BB655E1F-82A9-190A-508E-231044827697}"/>
              </a:ext>
            </a:extLst>
          </p:cNvPr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" name="Google Shape;97;p2">
            <a:extLst>
              <a:ext uri="{FF2B5EF4-FFF2-40B4-BE49-F238E27FC236}">
                <a16:creationId xmlns:a16="http://schemas.microsoft.com/office/drawing/2014/main" id="{C7490798-B65A-C5CF-D4B3-BDA763049A43}"/>
              </a:ext>
            </a:extLst>
          </p:cNvPr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92C097F-6D6E-C429-F29A-BF5E99C9948F}"/>
              </a:ext>
            </a:extLst>
          </p:cNvPr>
          <p:cNvSpPr txBox="1"/>
          <p:nvPr/>
        </p:nvSpPr>
        <p:spPr>
          <a:xfrm>
            <a:off x="899591" y="1392382"/>
            <a:ext cx="9208229" cy="420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460800">
              <a:lnSpc>
                <a:spcPct val="150000"/>
              </a:lnSpc>
              <a:buClr>
                <a:schemeClr val="dk1"/>
              </a:buClr>
              <a:buSzPct val="100000"/>
              <a:buFont typeface="+mj-lt"/>
              <a:buAutoNum type="arabicPeriod" startAt="9"/>
            </a:pPr>
            <a:r>
              <a:rPr lang="ru-RU" sz="2000" dirty="0">
                <a:latin typeface="Gilroy"/>
                <a:sym typeface="Calibri"/>
              </a:rPr>
              <a:t>Базы данных</a:t>
            </a:r>
            <a:r>
              <a:rPr lang="en-US" sz="2000" dirty="0">
                <a:latin typeface="Gilroy"/>
                <a:sym typeface="Calibri"/>
              </a:rPr>
              <a:t>:</a:t>
            </a:r>
            <a:r>
              <a:rPr lang="ru-RU" sz="2000" dirty="0">
                <a:latin typeface="Gilroy"/>
                <a:sym typeface="Calibri"/>
              </a:rPr>
              <a:t> творческая защита</a:t>
            </a:r>
          </a:p>
          <a:p>
            <a:pPr marL="228600" indent="-460800">
              <a:lnSpc>
                <a:spcPct val="150000"/>
              </a:lnSpc>
              <a:buClr>
                <a:schemeClr val="dk1"/>
              </a:buClr>
              <a:buSzPct val="100000"/>
              <a:buFont typeface="+mj-lt"/>
              <a:buAutoNum type="arabicPeriod" startAt="9"/>
            </a:pPr>
            <a:r>
              <a:rPr lang="ru-RU" sz="2000" dirty="0">
                <a:latin typeface="Gilroy"/>
              </a:rPr>
              <a:t>Базы данных</a:t>
            </a:r>
            <a:r>
              <a:rPr lang="en-US" sz="2000" dirty="0">
                <a:latin typeface="Gilroy"/>
              </a:rPr>
              <a:t>: </a:t>
            </a:r>
            <a:r>
              <a:rPr lang="ru-RU" sz="2000" dirty="0">
                <a:latin typeface="Gilroy"/>
              </a:rPr>
              <a:t>защита инвестиций</a:t>
            </a:r>
            <a:endParaRPr lang="ru-RU" sz="2000" dirty="0">
              <a:latin typeface="Gilroy"/>
              <a:sym typeface="Calibri"/>
            </a:endParaRPr>
          </a:p>
          <a:p>
            <a:pPr marL="228600" indent="-460800">
              <a:lnSpc>
                <a:spcPct val="150000"/>
              </a:lnSpc>
              <a:buClr>
                <a:schemeClr val="dk1"/>
              </a:buClr>
              <a:buSzPct val="100000"/>
              <a:buFont typeface="+mj-lt"/>
              <a:buAutoNum type="arabicPeriod" startAt="9"/>
            </a:pPr>
            <a:r>
              <a:rPr lang="ru-RU" sz="2000" dirty="0">
                <a:latin typeface="Gilroy"/>
              </a:rPr>
              <a:t>Регистрация и срок охраны прав</a:t>
            </a:r>
          </a:p>
          <a:p>
            <a:pPr marL="228600" indent="-460800">
              <a:lnSpc>
                <a:spcPct val="150000"/>
              </a:lnSpc>
              <a:buClr>
                <a:schemeClr val="dk1"/>
              </a:buClr>
              <a:buSzPct val="100000"/>
              <a:buFont typeface="+mj-lt"/>
              <a:buAutoNum type="arabicPeriod" startAt="9"/>
            </a:pPr>
            <a:r>
              <a:rPr lang="ru-RU" sz="2000" dirty="0">
                <a:latin typeface="Gilroy"/>
              </a:rPr>
              <a:t>Заключение</a:t>
            </a:r>
            <a:endParaRPr lang="en-US" sz="2000" dirty="0">
              <a:latin typeface="Gilroy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9AFEB0E6-AA9D-4D9C-41DA-66BB612087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71600" y="476672"/>
            <a:ext cx="7725544" cy="50405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roy"/>
                <a:ea typeface="Arial"/>
                <a:cs typeface="Arial"/>
                <a:sym typeface="Arial"/>
              </a:rPr>
              <a:t>Содержание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roy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123514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 fill="hold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155A0684-5BFC-F751-CD37-711517D9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3">
            <a:extLst>
              <a:ext uri="{FF2B5EF4-FFF2-40B4-BE49-F238E27FC236}">
                <a16:creationId xmlns:a16="http://schemas.microsoft.com/office/drawing/2014/main" id="{8254E451-1085-6011-0427-9D72EC16C994}"/>
              </a:ext>
            </a:extLst>
          </p:cNvPr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" name="Google Shape;293;p23">
            <a:extLst>
              <a:ext uri="{FF2B5EF4-FFF2-40B4-BE49-F238E27FC236}">
                <a16:creationId xmlns:a16="http://schemas.microsoft.com/office/drawing/2014/main" id="{B0754B31-EA73-2E61-8AFE-984F0D901A31}"/>
              </a:ext>
            </a:extLst>
          </p:cNvPr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F37A6D65-96FC-D405-D930-C006559A33C0}"/>
              </a:ext>
            </a:extLst>
          </p:cNvPr>
          <p:cNvSpPr txBox="1"/>
          <p:nvPr/>
        </p:nvSpPr>
        <p:spPr>
          <a:xfrm>
            <a:off x="899591" y="1577633"/>
            <a:ext cx="9208231" cy="3721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2000" dirty="0">
                <a:latin typeface="Gilroy"/>
              </a:rPr>
              <a:t>Программа для ЭВМ — это совокупность данных и команд, представленных в объективной форме и предназначенных для работы компьютерных устройств. Закон рассматривает такие программы как объекты авторского права, что обеспечивает им защиту на уровне литературных произведений.</a:t>
            </a:r>
          </a:p>
        </p:txBody>
      </p:sp>
      <p:sp>
        <p:nvSpPr>
          <p:cNvPr id="295" name="Google Shape;295;p23">
            <a:extLst>
              <a:ext uri="{FF2B5EF4-FFF2-40B4-BE49-F238E27FC236}">
                <a16:creationId xmlns:a16="http://schemas.microsoft.com/office/drawing/2014/main" id="{9136EA21-BCAE-2BD4-19A6-E5B6E41C372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71599" y="476672"/>
            <a:ext cx="10646658" cy="50405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2800" b="1" dirty="0">
                <a:latin typeface="Gilroy"/>
              </a:rPr>
              <a:t>Что такое программа для ЭВМ с точки зрения права?</a:t>
            </a:r>
            <a:endParaRPr lang="ru-RU" sz="4800" b="1" dirty="0">
              <a:latin typeface="Gilroy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B8D65FE-8446-6B32-393A-3738B3B94C70}"/>
              </a:ext>
            </a:extLst>
          </p:cNvPr>
          <p:cNvCxnSpPr/>
          <p:nvPr/>
        </p:nvCxnSpPr>
        <p:spPr>
          <a:xfrm>
            <a:off x="0" y="6203923"/>
            <a:ext cx="121920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2863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3CAE02EE-AF3C-5FEE-B28A-8C86EF9AA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3">
            <a:extLst>
              <a:ext uri="{FF2B5EF4-FFF2-40B4-BE49-F238E27FC236}">
                <a16:creationId xmlns:a16="http://schemas.microsoft.com/office/drawing/2014/main" id="{473E50D2-366F-1C6C-4D5C-BE00219FC0C3}"/>
              </a:ext>
            </a:extLst>
          </p:cNvPr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" name="Google Shape;293;p23">
            <a:extLst>
              <a:ext uri="{FF2B5EF4-FFF2-40B4-BE49-F238E27FC236}">
                <a16:creationId xmlns:a16="http://schemas.microsoft.com/office/drawing/2014/main" id="{92762C20-CE3A-3E34-5A57-1E9FB368F1DC}"/>
              </a:ext>
            </a:extLst>
          </p:cNvPr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23E6A618-C09E-E79E-0C1E-1257F9742C5D}"/>
              </a:ext>
            </a:extLst>
          </p:cNvPr>
          <p:cNvSpPr txBox="1"/>
          <p:nvPr/>
        </p:nvSpPr>
        <p:spPr>
          <a:xfrm>
            <a:off x="899591" y="1577633"/>
            <a:ext cx="9208231" cy="3721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lnSpc>
                <a:spcPct val="120000"/>
              </a:lnSpc>
              <a:buClr>
                <a:schemeClr val="dk1"/>
              </a:buClr>
              <a:buSzPts val="2000"/>
            </a:pPr>
            <a:r>
              <a:rPr lang="ru-RU" sz="2000" dirty="0">
                <a:latin typeface="Gilroy"/>
              </a:rPr>
              <a:t>Правовая охрана распространяется не только на исходный текст, но и на объектный код, подготовительные материалы и даже аудиовизуальные элементы, которые создаёт программа. Сюда может входить интерфейс, дизайн игровых сцен, визуальные эффекты — всё, что имеет творческую форму.</a:t>
            </a:r>
          </a:p>
        </p:txBody>
      </p:sp>
      <p:sp>
        <p:nvSpPr>
          <p:cNvPr id="295" name="Google Shape;295;p23">
            <a:extLst>
              <a:ext uri="{FF2B5EF4-FFF2-40B4-BE49-F238E27FC236}">
                <a16:creationId xmlns:a16="http://schemas.microsoft.com/office/drawing/2014/main" id="{8B41BBAD-B26C-1710-F358-34ACC243A81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71599" y="476672"/>
            <a:ext cx="10646658" cy="50405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2800" b="1" dirty="0">
                <a:latin typeface="Gilroy"/>
              </a:rPr>
              <a:t>Какие элементы программы охраняются?</a:t>
            </a:r>
            <a:endParaRPr lang="ru-RU" sz="4800" b="1" dirty="0">
              <a:latin typeface="Gilroy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B669EA6-4259-9AB2-8FAA-955AC5A2EC08}"/>
              </a:ext>
            </a:extLst>
          </p:cNvPr>
          <p:cNvCxnSpPr/>
          <p:nvPr/>
        </p:nvCxnSpPr>
        <p:spPr>
          <a:xfrm>
            <a:off x="0" y="6203923"/>
            <a:ext cx="121920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1695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3CE63416-322E-35DC-2A7A-3EAFFC395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3">
            <a:extLst>
              <a:ext uri="{FF2B5EF4-FFF2-40B4-BE49-F238E27FC236}">
                <a16:creationId xmlns:a16="http://schemas.microsoft.com/office/drawing/2014/main" id="{1E030BBD-0A52-9120-82BC-88DDD6D61C9F}"/>
              </a:ext>
            </a:extLst>
          </p:cNvPr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" name="Google Shape;293;p23">
            <a:extLst>
              <a:ext uri="{FF2B5EF4-FFF2-40B4-BE49-F238E27FC236}">
                <a16:creationId xmlns:a16="http://schemas.microsoft.com/office/drawing/2014/main" id="{D4445AFD-1CCF-B714-AA7C-C16BA6AF9D5E}"/>
              </a:ext>
            </a:extLst>
          </p:cNvPr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67EB5C03-2C14-B089-E62A-FD55E1F3EAEC}"/>
              </a:ext>
            </a:extLst>
          </p:cNvPr>
          <p:cNvSpPr txBox="1"/>
          <p:nvPr/>
        </p:nvSpPr>
        <p:spPr>
          <a:xfrm>
            <a:off x="899591" y="1577633"/>
            <a:ext cx="9208231" cy="3721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20000"/>
              </a:lnSpc>
              <a:buClr>
                <a:schemeClr val="dk1"/>
              </a:buClr>
              <a:buSzPts val="2000"/>
            </a:pPr>
            <a:r>
              <a:rPr lang="ru-RU" sz="2000" dirty="0">
                <a:latin typeface="Gilroy"/>
              </a:rPr>
              <a:t>Любое использование элементов программы требует согласия автора или правообладателя. Это относится как к работе с кодом, так и к применению визуальных образов. Например, нельзя печатать персонажей из игры на сувенирах без лицензии — это будет нарушением авторских прав.</a:t>
            </a:r>
          </a:p>
        </p:txBody>
      </p:sp>
      <p:sp>
        <p:nvSpPr>
          <p:cNvPr id="295" name="Google Shape;295;p23">
            <a:extLst>
              <a:ext uri="{FF2B5EF4-FFF2-40B4-BE49-F238E27FC236}">
                <a16:creationId xmlns:a16="http://schemas.microsoft.com/office/drawing/2014/main" id="{AA26F032-0A14-F8DB-DB50-91EB5EEEC40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71599" y="476672"/>
            <a:ext cx="10646658" cy="50405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2800" b="1" dirty="0">
                <a:latin typeface="Gilroy"/>
              </a:rPr>
              <a:t>Использование программы: необходимость разрешения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C441878-28A7-6B34-87F2-6840B487FA1C}"/>
              </a:ext>
            </a:extLst>
          </p:cNvPr>
          <p:cNvCxnSpPr/>
          <p:nvPr/>
        </p:nvCxnSpPr>
        <p:spPr>
          <a:xfrm>
            <a:off x="0" y="6203923"/>
            <a:ext cx="121920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0186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68F78D4B-FF7B-317D-CCCA-62A77323D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3">
            <a:extLst>
              <a:ext uri="{FF2B5EF4-FFF2-40B4-BE49-F238E27FC236}">
                <a16:creationId xmlns:a16="http://schemas.microsoft.com/office/drawing/2014/main" id="{57DF1915-6ACD-75CC-5213-7007AB4158EA}"/>
              </a:ext>
            </a:extLst>
          </p:cNvPr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" name="Google Shape;293;p23">
            <a:extLst>
              <a:ext uri="{FF2B5EF4-FFF2-40B4-BE49-F238E27FC236}">
                <a16:creationId xmlns:a16="http://schemas.microsoft.com/office/drawing/2014/main" id="{DAB361A4-CD3E-D2E2-9D30-2B95E91273B5}"/>
              </a:ext>
            </a:extLst>
          </p:cNvPr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158FACAD-0E59-7E1D-CA79-576E225228C6}"/>
              </a:ext>
            </a:extLst>
          </p:cNvPr>
          <p:cNvSpPr txBox="1"/>
          <p:nvPr/>
        </p:nvSpPr>
        <p:spPr>
          <a:xfrm>
            <a:off x="899591" y="1422662"/>
            <a:ext cx="9208231" cy="401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2000" dirty="0">
                <a:latin typeface="Gilroy"/>
              </a:rPr>
              <a:t>Исходный текст </a:t>
            </a:r>
            <a:r>
              <a:rPr lang="ru-RU" sz="2000" dirty="0" err="1">
                <a:latin typeface="Gilroy"/>
              </a:rPr>
              <a:t>выражён</a:t>
            </a:r>
            <a:r>
              <a:rPr lang="ru-RU" sz="2000" dirty="0">
                <a:latin typeface="Gilroy"/>
              </a:rPr>
              <a:t> в виде последовательности команд и конструкций языка программирования, то есть в понятной языковой форме. Именно эта «функциональная литературность» объясняет, почему программы защищаются по тем же правилам, что и книги. Это важно при разборе споров о плагиате, сравнении кода и доказательстве авторства.</a:t>
            </a:r>
          </a:p>
        </p:txBody>
      </p:sp>
      <p:sp>
        <p:nvSpPr>
          <p:cNvPr id="295" name="Google Shape;295;p23">
            <a:extLst>
              <a:ext uri="{FF2B5EF4-FFF2-40B4-BE49-F238E27FC236}">
                <a16:creationId xmlns:a16="http://schemas.microsoft.com/office/drawing/2014/main" id="{42E8D949-05C6-6E79-F190-352CAA4BF52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71599" y="476672"/>
            <a:ext cx="10646658" cy="50405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2800" b="1" dirty="0">
                <a:latin typeface="Gilroy"/>
              </a:rPr>
              <a:t>Почему исходный текст — главный объект защиты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1CF60F8-AEA4-FB04-66BB-368CAEBCA9E9}"/>
              </a:ext>
            </a:extLst>
          </p:cNvPr>
          <p:cNvCxnSpPr/>
          <p:nvPr/>
        </p:nvCxnSpPr>
        <p:spPr>
          <a:xfrm>
            <a:off x="0" y="6203923"/>
            <a:ext cx="121920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124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85FBE01F-8F87-F7A1-B0B8-61E2678AF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3">
            <a:extLst>
              <a:ext uri="{FF2B5EF4-FFF2-40B4-BE49-F238E27FC236}">
                <a16:creationId xmlns:a16="http://schemas.microsoft.com/office/drawing/2014/main" id="{90A44787-732F-9203-4B97-7C39507CAC8E}"/>
              </a:ext>
            </a:extLst>
          </p:cNvPr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" name="Google Shape;293;p23">
            <a:extLst>
              <a:ext uri="{FF2B5EF4-FFF2-40B4-BE49-F238E27FC236}">
                <a16:creationId xmlns:a16="http://schemas.microsoft.com/office/drawing/2014/main" id="{6AA2E8BD-B12B-2216-EB70-123FD42209DC}"/>
              </a:ext>
            </a:extLst>
          </p:cNvPr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8F04BA08-35E8-4F83-3BAF-7FF25F6EFB02}"/>
              </a:ext>
            </a:extLst>
          </p:cNvPr>
          <p:cNvSpPr txBox="1"/>
          <p:nvPr/>
        </p:nvSpPr>
        <p:spPr>
          <a:xfrm>
            <a:off x="899591" y="1396685"/>
            <a:ext cx="9208231" cy="4064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2000" dirty="0">
                <a:latin typeface="Gilroy"/>
              </a:rPr>
              <a:t>Алгоритмы, идеи, принципы работы, методы реализации — всё это относится к содержанию, а не к форме, поэтому не охраняется авторским правом. Не защищаются также языки программирования и форматы файлов. Разработчик может создать аналогичный продукт, если напишет собственный код.</a:t>
            </a:r>
          </a:p>
        </p:txBody>
      </p:sp>
      <p:sp>
        <p:nvSpPr>
          <p:cNvPr id="295" name="Google Shape;295;p23">
            <a:extLst>
              <a:ext uri="{FF2B5EF4-FFF2-40B4-BE49-F238E27FC236}">
                <a16:creationId xmlns:a16="http://schemas.microsoft.com/office/drawing/2014/main" id="{823F049E-9D29-4336-6157-2A832A2B1F4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71599" y="476672"/>
            <a:ext cx="10646658" cy="50405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2800" b="1" dirty="0">
                <a:latin typeface="Gilroy"/>
              </a:rPr>
              <a:t>Что не защищается авторским правом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7BED58A-B0E1-AAA0-63D7-4D2FE12FB341}"/>
              </a:ext>
            </a:extLst>
          </p:cNvPr>
          <p:cNvCxnSpPr/>
          <p:nvPr/>
        </p:nvCxnSpPr>
        <p:spPr>
          <a:xfrm>
            <a:off x="0" y="6203923"/>
            <a:ext cx="121920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Права на программы для ЭВМ">
            <a:extLst>
              <a:ext uri="{FF2B5EF4-FFF2-40B4-BE49-F238E27FC236}">
                <a16:creationId xmlns:a16="http://schemas.microsoft.com/office/drawing/2014/main" id="{D4999FF1-27E1-56D1-26C9-7A08CCADB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328" y="2894763"/>
            <a:ext cx="4488494" cy="256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5870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6D5F82EA-5C8A-0BEB-4BF0-8C2B3F66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3">
            <a:extLst>
              <a:ext uri="{FF2B5EF4-FFF2-40B4-BE49-F238E27FC236}">
                <a16:creationId xmlns:a16="http://schemas.microsoft.com/office/drawing/2014/main" id="{3DE9C48C-982E-15ED-1A56-C15650037D8B}"/>
              </a:ext>
            </a:extLst>
          </p:cNvPr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" name="Google Shape;293;p23">
            <a:extLst>
              <a:ext uri="{FF2B5EF4-FFF2-40B4-BE49-F238E27FC236}">
                <a16:creationId xmlns:a16="http://schemas.microsoft.com/office/drawing/2014/main" id="{681814C6-5140-0E1B-E0E5-6D5CBFD33498}"/>
              </a:ext>
            </a:extLst>
          </p:cNvPr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1A571C8A-B6D8-B4BA-EBAB-933A083E655D}"/>
              </a:ext>
            </a:extLst>
          </p:cNvPr>
          <p:cNvSpPr txBox="1"/>
          <p:nvPr/>
        </p:nvSpPr>
        <p:spPr>
          <a:xfrm>
            <a:off x="899591" y="1396685"/>
            <a:ext cx="9208231" cy="4064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000"/>
            </a:pPr>
            <a:r>
              <a:rPr lang="ru-RU" sz="2000" dirty="0">
                <a:latin typeface="Gilroy"/>
              </a:rPr>
              <a:t>Автор или правообладатель имеет исключительное право определять способы использования программы. Сюда входит её воспроизведение (включая копирование в память компьютера), распространение экземпляров, импорт в коммерческих целях, публикация в интернете, а также любые переработки или переводы программы.</a:t>
            </a:r>
          </a:p>
        </p:txBody>
      </p:sp>
      <p:sp>
        <p:nvSpPr>
          <p:cNvPr id="295" name="Google Shape;295;p23">
            <a:extLst>
              <a:ext uri="{FF2B5EF4-FFF2-40B4-BE49-F238E27FC236}">
                <a16:creationId xmlns:a16="http://schemas.microsoft.com/office/drawing/2014/main" id="{0D5B16F2-AB6C-0E14-11F9-FC00646E45A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71599" y="476672"/>
            <a:ext cx="10646658" cy="50405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2800" b="1" dirty="0">
                <a:latin typeface="Gilroy"/>
              </a:rPr>
              <a:t>Исключительное право и формы использования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F56E69D-B82C-FE48-2788-0791A8A232A4}"/>
              </a:ext>
            </a:extLst>
          </p:cNvPr>
          <p:cNvCxnSpPr/>
          <p:nvPr/>
        </p:nvCxnSpPr>
        <p:spPr>
          <a:xfrm>
            <a:off x="0" y="6203923"/>
            <a:ext cx="121920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3394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BAF0694C-638A-D7A5-B9D6-8B025A48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3">
            <a:extLst>
              <a:ext uri="{FF2B5EF4-FFF2-40B4-BE49-F238E27FC236}">
                <a16:creationId xmlns:a16="http://schemas.microsoft.com/office/drawing/2014/main" id="{E873A4FC-A584-6A5A-F624-F65A538DBDCE}"/>
              </a:ext>
            </a:extLst>
          </p:cNvPr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" name="Google Shape;293;p23">
            <a:extLst>
              <a:ext uri="{FF2B5EF4-FFF2-40B4-BE49-F238E27FC236}">
                <a16:creationId xmlns:a16="http://schemas.microsoft.com/office/drawing/2014/main" id="{48FE3D59-ACD9-2D47-46F8-DF5534FE620C}"/>
              </a:ext>
            </a:extLst>
          </p:cNvPr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97F7AD1D-A09E-2F41-1758-274FC5937716}"/>
              </a:ext>
            </a:extLst>
          </p:cNvPr>
          <p:cNvSpPr txBox="1"/>
          <p:nvPr/>
        </p:nvSpPr>
        <p:spPr>
          <a:xfrm>
            <a:off x="899591" y="1396685"/>
            <a:ext cx="9208231" cy="4064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000"/>
            </a:pPr>
            <a:r>
              <a:rPr lang="ru-RU" sz="2000" dirty="0">
                <a:latin typeface="Gilroy"/>
              </a:rPr>
              <a:t>Закон делает исключение для архивной копии — её можно создать, но нельзя использовать вместо оригинала. Копирование для личных целей не допускается. Разрешено вносить изменения для технической совместимости и исправлять очевидные ошибки. При окончании действия лицензии архивная копия должна быть уничтожена.</a:t>
            </a:r>
          </a:p>
        </p:txBody>
      </p:sp>
      <p:sp>
        <p:nvSpPr>
          <p:cNvPr id="295" name="Google Shape;295;p23">
            <a:extLst>
              <a:ext uri="{FF2B5EF4-FFF2-40B4-BE49-F238E27FC236}">
                <a16:creationId xmlns:a16="http://schemas.microsoft.com/office/drawing/2014/main" id="{E4DBB679-9E81-4A66-71DA-4D50F96CACF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71599" y="476672"/>
            <a:ext cx="10646658" cy="50405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2800" b="1" dirty="0">
                <a:latin typeface="Gilroy"/>
              </a:rPr>
              <a:t>Особенности использования программ для ЭВМ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58C6E75-3DC2-872B-241E-3DDD9ED74FCB}"/>
              </a:ext>
            </a:extLst>
          </p:cNvPr>
          <p:cNvCxnSpPr/>
          <p:nvPr/>
        </p:nvCxnSpPr>
        <p:spPr>
          <a:xfrm>
            <a:off x="0" y="6203923"/>
            <a:ext cx="121920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6792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7CA99AC4-097E-958D-F752-746D30734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3">
            <a:extLst>
              <a:ext uri="{FF2B5EF4-FFF2-40B4-BE49-F238E27FC236}">
                <a16:creationId xmlns:a16="http://schemas.microsoft.com/office/drawing/2014/main" id="{BAEE7A1A-3F01-2AAC-4E77-5F3C8E2E9C91}"/>
              </a:ext>
            </a:extLst>
          </p:cNvPr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" name="Google Shape;293;p23">
            <a:extLst>
              <a:ext uri="{FF2B5EF4-FFF2-40B4-BE49-F238E27FC236}">
                <a16:creationId xmlns:a16="http://schemas.microsoft.com/office/drawing/2014/main" id="{36EFC37B-D1B5-BD6A-50AA-A8B192C11256}"/>
              </a:ext>
            </a:extLst>
          </p:cNvPr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C26FDF68-530A-DABB-9ECE-17B677A97DC5}"/>
              </a:ext>
            </a:extLst>
          </p:cNvPr>
          <p:cNvSpPr txBox="1"/>
          <p:nvPr/>
        </p:nvSpPr>
        <p:spPr>
          <a:xfrm>
            <a:off x="899591" y="1396685"/>
            <a:ext cx="9208231" cy="4064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000"/>
            </a:pPr>
            <a:r>
              <a:rPr lang="ru-RU" sz="2000" dirty="0">
                <a:latin typeface="Gilroy"/>
              </a:rPr>
              <a:t>Условия использования программы могут быть сформулированы непосредственно на экземпляре ПО. Начало работы с программой приравнивается к согласию с такими условиями. По желанию правообладателя программа может быть зарегистрирована государством, что упрощает защиту прав и повышает юридическую уверенность.</a:t>
            </a:r>
          </a:p>
        </p:txBody>
      </p:sp>
      <p:sp>
        <p:nvSpPr>
          <p:cNvPr id="295" name="Google Shape;295;p23">
            <a:extLst>
              <a:ext uri="{FF2B5EF4-FFF2-40B4-BE49-F238E27FC236}">
                <a16:creationId xmlns:a16="http://schemas.microsoft.com/office/drawing/2014/main" id="{701E68BA-2E79-BC3A-DC93-6F17A676F3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71599" y="476672"/>
            <a:ext cx="10646658" cy="50405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2800" b="1" dirty="0">
                <a:latin typeface="Gilroy"/>
              </a:rPr>
              <a:t>Лицензии и регистрация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EA2F442-CB58-7AD5-CD9D-0A478CA19937}"/>
              </a:ext>
            </a:extLst>
          </p:cNvPr>
          <p:cNvCxnSpPr/>
          <p:nvPr/>
        </p:nvCxnSpPr>
        <p:spPr>
          <a:xfrm>
            <a:off x="0" y="6203923"/>
            <a:ext cx="121920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170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F4A9202C-D146-8AF1-D707-A3A81024D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3">
            <a:extLst>
              <a:ext uri="{FF2B5EF4-FFF2-40B4-BE49-F238E27FC236}">
                <a16:creationId xmlns:a16="http://schemas.microsoft.com/office/drawing/2014/main" id="{F9E72208-C3CA-4CD3-1A59-6A74196E63D4}"/>
              </a:ext>
            </a:extLst>
          </p:cNvPr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" name="Google Shape;293;p23">
            <a:extLst>
              <a:ext uri="{FF2B5EF4-FFF2-40B4-BE49-F238E27FC236}">
                <a16:creationId xmlns:a16="http://schemas.microsoft.com/office/drawing/2014/main" id="{904A7D89-D7E1-B80E-D062-57B731E96E82}"/>
              </a:ext>
            </a:extLst>
          </p:cNvPr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F0643560-3403-F96C-2187-93DD381B1574}"/>
              </a:ext>
            </a:extLst>
          </p:cNvPr>
          <p:cNvSpPr txBox="1"/>
          <p:nvPr/>
        </p:nvSpPr>
        <p:spPr>
          <a:xfrm>
            <a:off x="899591" y="1396685"/>
            <a:ext cx="9208231" cy="4064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20000"/>
              </a:lnSpc>
              <a:buClr>
                <a:schemeClr val="dk1"/>
              </a:buClr>
              <a:buSzPts val="2000"/>
            </a:pPr>
            <a:r>
              <a:rPr lang="ru-RU" sz="2000" dirty="0">
                <a:latin typeface="Gilroy"/>
              </a:rPr>
              <a:t>База данных может охраняться как составное произведение, если её создание включает творческую работу автора. Защищается оригинальный принцип подбора, расположения и структурирования материалов. Простая сортировка, например, по алфавиту, не считается творческой и не получает охраны.</a:t>
            </a:r>
          </a:p>
        </p:txBody>
      </p:sp>
      <p:sp>
        <p:nvSpPr>
          <p:cNvPr id="295" name="Google Shape;295;p23">
            <a:extLst>
              <a:ext uri="{FF2B5EF4-FFF2-40B4-BE49-F238E27FC236}">
                <a16:creationId xmlns:a16="http://schemas.microsoft.com/office/drawing/2014/main" id="{4E171625-A815-E18A-FDAB-453EA01EC02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71599" y="476672"/>
            <a:ext cx="10646658" cy="50405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2800" b="1" dirty="0">
                <a:latin typeface="Gilroy"/>
              </a:rPr>
              <a:t>Базы данных: творческая защита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713FB2C-943F-FC49-F9D4-6BE7D360F6E0}"/>
              </a:ext>
            </a:extLst>
          </p:cNvPr>
          <p:cNvCxnSpPr/>
          <p:nvPr/>
        </p:nvCxnSpPr>
        <p:spPr>
          <a:xfrm>
            <a:off x="0" y="6203923"/>
            <a:ext cx="121920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4016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1">
          <a:extLst>
            <a:ext uri="{FF2B5EF4-FFF2-40B4-BE49-F238E27FC236}">
              <a16:creationId xmlns:a16="http://schemas.microsoft.com/office/drawing/2014/main" id="{9AEA7771-C8D9-40C2-E8AA-9CC12BA9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3">
            <a:extLst>
              <a:ext uri="{FF2B5EF4-FFF2-40B4-BE49-F238E27FC236}">
                <a16:creationId xmlns:a16="http://schemas.microsoft.com/office/drawing/2014/main" id="{CBF3BD4F-7D20-A9B9-A60F-BA7C5D0617A6}"/>
              </a:ext>
            </a:extLst>
          </p:cNvPr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" name="Google Shape;293;p23">
            <a:extLst>
              <a:ext uri="{FF2B5EF4-FFF2-40B4-BE49-F238E27FC236}">
                <a16:creationId xmlns:a16="http://schemas.microsoft.com/office/drawing/2014/main" id="{D999A419-F65C-22A6-F828-B8821D8D2AF0}"/>
              </a:ext>
            </a:extLst>
          </p:cNvPr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38D2E073-944A-E548-E84C-BCA376047FF8}"/>
              </a:ext>
            </a:extLst>
          </p:cNvPr>
          <p:cNvSpPr txBox="1"/>
          <p:nvPr/>
        </p:nvSpPr>
        <p:spPr>
          <a:xfrm>
            <a:off x="899591" y="1396685"/>
            <a:ext cx="9208231" cy="4064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20000"/>
              </a:lnSpc>
              <a:buClr>
                <a:schemeClr val="dk1"/>
              </a:buClr>
              <a:buSzPts val="2000"/>
            </a:pPr>
            <a:r>
              <a:rPr lang="ru-RU" sz="2000" dirty="0">
                <a:latin typeface="Gilroy"/>
              </a:rPr>
              <a:t>Помимо авторского права существует специальная защита изготовителя базы данных. Она направлена на сохранение вложений, сделанных в сбор, проверку и актуализацию информации. Правообладатель может запретить извлечение и повторное использование существенных частей базы. Срок защиты составляет 15 лет и обновляется при крупном обновлении базы.</a:t>
            </a:r>
          </a:p>
        </p:txBody>
      </p:sp>
      <p:sp>
        <p:nvSpPr>
          <p:cNvPr id="295" name="Google Shape;295;p23">
            <a:extLst>
              <a:ext uri="{FF2B5EF4-FFF2-40B4-BE49-F238E27FC236}">
                <a16:creationId xmlns:a16="http://schemas.microsoft.com/office/drawing/2014/main" id="{82F59C11-C8FC-48BD-E70B-1B0EC982008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99591" y="461333"/>
            <a:ext cx="10647362" cy="5048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2800" b="1" dirty="0">
                <a:latin typeface="Gilroy"/>
              </a:rPr>
              <a:t>Базы данных: защита инвестиций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518AA9B-4318-0077-0ED5-B4F87510248E}"/>
              </a:ext>
            </a:extLst>
          </p:cNvPr>
          <p:cNvCxnSpPr/>
          <p:nvPr/>
        </p:nvCxnSpPr>
        <p:spPr>
          <a:xfrm>
            <a:off x="0" y="6203923"/>
            <a:ext cx="121920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331642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1">
          <a:extLst>
            <a:ext uri="{FF2B5EF4-FFF2-40B4-BE49-F238E27FC236}">
              <a16:creationId xmlns:a16="http://schemas.microsoft.com/office/drawing/2014/main" id="{165F182B-1AEF-B0BD-8FB1-9532BA99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3">
            <a:extLst>
              <a:ext uri="{FF2B5EF4-FFF2-40B4-BE49-F238E27FC236}">
                <a16:creationId xmlns:a16="http://schemas.microsoft.com/office/drawing/2014/main" id="{F73A3C5E-652B-A67C-945B-BE2FE95D869D}"/>
              </a:ext>
            </a:extLst>
          </p:cNvPr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" name="Google Shape;293;p23">
            <a:extLst>
              <a:ext uri="{FF2B5EF4-FFF2-40B4-BE49-F238E27FC236}">
                <a16:creationId xmlns:a16="http://schemas.microsoft.com/office/drawing/2014/main" id="{908428D7-CBDE-56DC-3277-26D4DABBC12C}"/>
              </a:ext>
            </a:extLst>
          </p:cNvPr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DBA6A38F-0C9A-7353-C51D-D672BA3BDA8B}"/>
              </a:ext>
            </a:extLst>
          </p:cNvPr>
          <p:cNvSpPr txBox="1"/>
          <p:nvPr/>
        </p:nvSpPr>
        <p:spPr>
          <a:xfrm>
            <a:off x="899591" y="1396685"/>
            <a:ext cx="9208231" cy="4064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20000"/>
              </a:lnSpc>
              <a:buClr>
                <a:schemeClr val="dk1"/>
              </a:buClr>
              <a:buSzPts val="2000"/>
            </a:pPr>
            <a:r>
              <a:rPr lang="ru-RU" sz="2000" dirty="0">
                <a:latin typeface="Gilroy"/>
              </a:rPr>
              <a:t>Авторское право на программу или базу данных возникает автоматически в момент их создания. Добровольная регистрация в Роспатенте помогает подтверждать авторство в суде и упрощает заключение договоров. Срок охраны — весь период жизни автора и 70 лет после его смерти.</a:t>
            </a:r>
          </a:p>
        </p:txBody>
      </p:sp>
      <p:sp>
        <p:nvSpPr>
          <p:cNvPr id="295" name="Google Shape;295;p23">
            <a:extLst>
              <a:ext uri="{FF2B5EF4-FFF2-40B4-BE49-F238E27FC236}">
                <a16:creationId xmlns:a16="http://schemas.microsoft.com/office/drawing/2014/main" id="{53A64E1F-89B3-AA6B-6D5A-482259ABB80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82718" y="480655"/>
            <a:ext cx="10647362" cy="5048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2800" b="1" dirty="0">
                <a:latin typeface="Gilroy"/>
              </a:rPr>
              <a:t>Регистрация и срок охраны прав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61C64C7-436B-F42D-E24E-B21D28549B89}"/>
              </a:ext>
            </a:extLst>
          </p:cNvPr>
          <p:cNvCxnSpPr/>
          <p:nvPr/>
        </p:nvCxnSpPr>
        <p:spPr>
          <a:xfrm>
            <a:off x="0" y="6203923"/>
            <a:ext cx="121920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49574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1">
          <a:extLst>
            <a:ext uri="{FF2B5EF4-FFF2-40B4-BE49-F238E27FC236}">
              <a16:creationId xmlns:a16="http://schemas.microsoft.com/office/drawing/2014/main" id="{2F14A904-1D53-8855-6E54-484433FC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3">
            <a:extLst>
              <a:ext uri="{FF2B5EF4-FFF2-40B4-BE49-F238E27FC236}">
                <a16:creationId xmlns:a16="http://schemas.microsoft.com/office/drawing/2014/main" id="{01C7620C-8B3A-FE11-E90A-35D2F14A04E1}"/>
              </a:ext>
            </a:extLst>
          </p:cNvPr>
          <p:cNvCxnSpPr/>
          <p:nvPr/>
        </p:nvCxnSpPr>
        <p:spPr>
          <a:xfrm>
            <a:off x="683568" y="980728"/>
            <a:ext cx="94242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" name="Google Shape;293;p23">
            <a:extLst>
              <a:ext uri="{FF2B5EF4-FFF2-40B4-BE49-F238E27FC236}">
                <a16:creationId xmlns:a16="http://schemas.microsoft.com/office/drawing/2014/main" id="{47E8EB0F-6FA7-BE26-E832-BF63DBCFD627}"/>
              </a:ext>
            </a:extLst>
          </p:cNvPr>
          <p:cNvCxnSpPr/>
          <p:nvPr/>
        </p:nvCxnSpPr>
        <p:spPr>
          <a:xfrm rot="10800000">
            <a:off x="899592" y="476672"/>
            <a:ext cx="0" cy="720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296EB785-B09F-E85D-929B-ED8CEDD476AD}"/>
              </a:ext>
            </a:extLst>
          </p:cNvPr>
          <p:cNvSpPr txBox="1"/>
          <p:nvPr/>
        </p:nvSpPr>
        <p:spPr>
          <a:xfrm>
            <a:off x="899591" y="1396685"/>
            <a:ext cx="9208231" cy="4064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20000"/>
              </a:lnSpc>
              <a:buClr>
                <a:schemeClr val="dk1"/>
              </a:buClr>
              <a:buSzPts val="2000"/>
            </a:pPr>
            <a:r>
              <a:rPr lang="ru-RU" sz="2000" dirty="0">
                <a:latin typeface="Gilroy"/>
              </a:rPr>
              <a:t>Правовая защита программ для ЭВМ и баз данных строится на сочетании авторского права и специальных смежных механизмов. Закон охраняет творческую форму выражения — исходный код, структуру базы данных, визуальные элементы, — но не распространяется на идеи, алгоритмы и методы. Разработчики получают широкие исключительные права, позволяющие контролировать использование своих продуктов, а также защищать вложенные ресурсы и интеллектуальные усилия.</a:t>
            </a:r>
          </a:p>
        </p:txBody>
      </p:sp>
      <p:sp>
        <p:nvSpPr>
          <p:cNvPr id="295" name="Google Shape;295;p23">
            <a:extLst>
              <a:ext uri="{FF2B5EF4-FFF2-40B4-BE49-F238E27FC236}">
                <a16:creationId xmlns:a16="http://schemas.microsoft.com/office/drawing/2014/main" id="{9A5F5C54-9923-ADA0-A0FD-BDC5F6D3FA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82718" y="480655"/>
            <a:ext cx="10647362" cy="5048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2800" b="1" dirty="0">
                <a:latin typeface="Gilroy"/>
              </a:rPr>
              <a:t>Заключение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8EC0FDB-C12C-AE1F-7395-35F250F18CB2}"/>
              </a:ext>
            </a:extLst>
          </p:cNvPr>
          <p:cNvCxnSpPr/>
          <p:nvPr/>
        </p:nvCxnSpPr>
        <p:spPr>
          <a:xfrm>
            <a:off x="0" y="6203923"/>
            <a:ext cx="121920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41105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3FFA34A7-0414-9CAA-E416-1881998A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9D218C3D-8FF7-7940-FD46-E58A829A9F7B}"/>
              </a:ext>
            </a:extLst>
          </p:cNvPr>
          <p:cNvSpPr txBox="1"/>
          <p:nvPr/>
        </p:nvSpPr>
        <p:spPr>
          <a:xfrm>
            <a:off x="1127715" y="1533799"/>
            <a:ext cx="666962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 dirty="0">
                <a:solidFill>
                  <a:schemeClr val="lt1"/>
                </a:solidFill>
                <a:latin typeface="Gilroy"/>
              </a:rPr>
              <a:t>Спасибо </a:t>
            </a:r>
          </a:p>
          <a:p>
            <a:r>
              <a:rPr lang="ru-RU" sz="3600" b="1" dirty="0">
                <a:solidFill>
                  <a:schemeClr val="lt1"/>
                </a:solidFill>
                <a:latin typeface="Gilroy"/>
              </a:rPr>
              <a:t>за внимание! </a:t>
            </a:r>
            <a:endParaRPr sz="3600" b="1" dirty="0">
              <a:solidFill>
                <a:schemeClr val="lt1"/>
              </a:solidFill>
              <a:latin typeface="Gilroy"/>
            </a:endParaRPr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5BEA9C72-0A53-BE4D-8940-9E1A4002537F}"/>
              </a:ext>
            </a:extLst>
          </p:cNvPr>
          <p:cNvSpPr txBox="1"/>
          <p:nvPr/>
        </p:nvSpPr>
        <p:spPr>
          <a:xfrm>
            <a:off x="1127715" y="2782669"/>
            <a:ext cx="922475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7351524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Стандартная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581</TotalTime>
  <Words>709</Words>
  <Application>Microsoft Office PowerPoint</Application>
  <PresentationFormat>Широкоэкранный</PresentationFormat>
  <Paragraphs>58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Gilroy</vt:lpstr>
      <vt:lpstr>Тема Office</vt:lpstr>
      <vt:lpstr>Презентация PowerPoint</vt:lpstr>
      <vt:lpstr>Содержание</vt:lpstr>
      <vt:lpstr>Содержание</vt:lpstr>
      <vt:lpstr>Что такое программа для ЭВМ с точки зрения права?</vt:lpstr>
      <vt:lpstr>Какие элементы программы охраняются?</vt:lpstr>
      <vt:lpstr>Использование программы: необходимость разрешения</vt:lpstr>
      <vt:lpstr>Почему исходный текст — главный объект защиты</vt:lpstr>
      <vt:lpstr>Что не защищается авторским правом</vt:lpstr>
      <vt:lpstr>Исключительное право и формы использования</vt:lpstr>
      <vt:lpstr>Особенности использования программ для ЭВМ</vt:lpstr>
      <vt:lpstr>Лицензии и регистрация</vt:lpstr>
      <vt:lpstr>Базы данных: творческая защита</vt:lpstr>
      <vt:lpstr>Базы данных: защита инвестиций</vt:lpstr>
      <vt:lpstr>Регистрация и срок охраны прав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Арсений Козенко</cp:lastModifiedBy>
  <cp:revision>406</cp:revision>
  <dcterms:created xsi:type="dcterms:W3CDTF">2021-10-12T08:35:02Z</dcterms:created>
  <dcterms:modified xsi:type="dcterms:W3CDTF">2025-11-21T08:26:36Z</dcterms:modified>
</cp:coreProperties>
</file>